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6061581-Strategic-Mergers-and-Acquisitions-Valuation-Risk-and-Integration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829800" y="658368"/>
            <a:ext cx="164592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749808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M&amp;A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117043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VALUE · RISK · PMI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Strategic Mergers and Acquisitions - Valuation, Risk, and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TGS-2026061581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v2.0  ·  13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Welcome, Outcomes and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every SSG digital-attendance event shown by the trainer.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Scan the QR code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mobile camera and submit the generated attendance 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 submission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Tell the trainer immediately if the confirmation does not appear.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Funding condition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least 75% attendance and a Competent result are required.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 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and course facilitator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SPECIALISMS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Business, technology and applied decision-making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professional development and workplace application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Your organisation, function and decision responsibilities.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M&amp;A exposure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deal, diligence, valuation or integration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 goal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decision or capability you want to strengthen.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Case lens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stakeholder whose perspective you will represent today.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Challenge assumptions and contribute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Disagree with ideas, not people.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Confidentiality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public or course data only; do not disclose live deal information.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Silent mode; step out quietly if needed.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promptly.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 the required SSG attendance record.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LESSON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 —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Structure, Value and Forecast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deal instruments, valuation and scale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Activities 1–2: thesis/structure and valuation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forecast, synergies, statements and tax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Activities 3–4: synergy model and board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Risk, Intelligence and Integration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screening, diligence, risk and BI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Activities 5–6: diligence and risk intelligence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governance, people and integration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Activities 7–8; WA 4–5pm; CS 5–6pm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financial instruments and valuation methods to structure mergers and acquisitions that optimise organisational benefit and shareholder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 the business, financial and tax impact of potential M&amp;A deals using industry data and forecasting techniques.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Identify, assess and manage M&amp;A risks across the full transaction lifecycle from target selection to post-deal integration.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Collaborate with stakeholders to develop and implement M&amp;A plans while ensuring governance, synergy realisation and strategic alignment.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WST-CFI-5003-1.1-1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Mergers and Acquisition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One 5-level Technical Skill and Competency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Knowledge K1–K5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Instruments · forecasts · valuation · industry · financial/tax impact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Abilities A1–A6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Value · controls · integration · risk · intelligence · opportunity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Individual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discussion, photography or recording.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slides, Learner Guide and approved course materials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Answer in your own words and upload the completed document to the LMS.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Conduct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Phones and other materials under the table; follow assessor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Competent or Not Yet Competent; reassessment and appeal are available.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Sign-off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digital attendance and sign the Assessment Summary Record.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WA-SAQ · 1 hour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 open-ended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Covers K1–K5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Case Study · 1 hour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3 integrated tasks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Covers A1–A6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Competency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Satisfactory evidence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At least 75% attendance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Appeal process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/ SSG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then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HANDS-ON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Course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658368"/>
          </a:xfrm>
          <a:prstGeom prst="rect">
            <a:avLst/>
          </a:prstGeom>
          <a:solidFill>
            <a:srgbClr val="EE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  <a:hlinkClick r:id="rId2"/>
              </a:rPr>
              <a:t>https://github.com/tertiarycourses/TGS-2026061581-Strategic-Mergers-and-Acquisitions-Valuation-Risk-and-Integration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git clone the repository, then open the activities folder.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880360"/>
            <a:ext cx="333756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GitHub Code → Download ZIP when Git is unavailable.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880360"/>
            <a:ext cx="333756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One folder 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Every activity includes scenario, questions, steps and acceptance criteria.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COURSEWARE AND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658368"/>
          </a:xfrm>
          <a:prstGeom prst="rect">
            <a:avLst/>
          </a:prstGeom>
          <a:solidFill>
            <a:srgbClr val="EE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the LMS with your registered email and password or OTP.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880360"/>
            <a:ext cx="333756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2 · Open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Select this TGS course from your enrolled courses.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880360"/>
            <a:ext cx="333756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3 · Download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Download slides and the Learner Guide; assessments are completed on the LMS.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One Deal · One Evidence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END-TO-END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decision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Strategic 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Valuation and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Diligence and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Approval and close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Integration and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 NOT CONFUSE FACT WITH ASSUMPTION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Verified public fact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Published or regulatory information with source and 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Management assertion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claim to be tested against documents and operating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Training assumption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simulated input used only for learning and clearly labelled.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Third-party, customer, market, legal or specialist verification.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strong M&amp;A recommendation links thesis → evidence → value → risk → owner.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If one link is missing, the decision is not ready.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 · K1 · K3 · 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Deal Structuring and Valuation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Financial instruments · valuation · shareholder value · economies of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WST-CFI-5003-1.1-1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Deal Structuring and Valuation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Deal thesis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transaction starts with a testable strategic rationale, not a price.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Consideration, financing, control and risk allocation work together.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Triangulate methods; reconcile enterprise value to equity value.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Discipline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Normalise earnings, challenge synergies and preserve downside protection.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Merger, acquisition or another route?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Merger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Businesses combine under shared control; governance must be redesigned.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Acquisition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buyer obtains control through shares, assets or a negotiated business transfer.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Alternatives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Joint venture, alliance, licensing or organic build may deliver the objective with less integration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M&amp;A value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Strategy and target 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Screen and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Value and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Diligence and negotiate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Close and integrate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organisations pursue M&amp;A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Lower unit costs through procurement, systems and shared services.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capabilities, products, client segments or geographies.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Speed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Buy proven talent, technology, licences or distribution rather than build.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Resilience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Diversify revenue, reduce concentration or reinforce a strategic position.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Consideration instruments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Price certainty for the seller; liquidity and leverage pressure for the buyer.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Shares risk and upside; introduces dilution, valuation and governance questions.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Earn-out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Defers value until agreed performance is achieved; definitions must be precise.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Rollover equity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Keeps sellers invested in NewCo and aligns them with future value creation.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Financing and risk-allocation instruments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Senior debt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Lower cost and tax-deductible interest, but covenants constrain flexibility.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Seller note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Bridges a funding or valuation gap; seller retains credit exposure.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Preferred / convertible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Blends downside protection with participation in upside.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Escrow / holdback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Secures claims for warranties, indemnities or post-close adjustments.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purchase versus asset purchase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Buyer acquires the legal entity and its contracts, assets and liabilities.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Continuity may be simpler, but unknown liabilities can follow the entity.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Diligence, warranties and indemnities are critical.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Buyer selects assets and assumed liabilities subject to transfer rules.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May permit tax basis step-up, but consents and novation can be complex.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Employee, licence and indirect-tax effects need local advice.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01 · K1 · K3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Price is what is paid; value is what the buyer can defend.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 valuation range must show assumptions, uncertainty and the bridge to the negotiated consideration.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Valuation triangulation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Normalise earnings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Build standalone 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Value with DCF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Benchmark comps and precedents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Reconcile to a range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Enterprise value and equity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Enterprise value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Value of operations available to debt and equity capital providers.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Equity bridge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 minus debt-like items plus cash and agreed adjustments.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Working capital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Completion accounts or a locked-box protects the normal operating level.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Per-share value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Equity value divided by diluted shares, after options and other claims.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Income approach: DCF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Forecast unlevered free cash flow from operating drivers.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Discount with a rate consistent with risk and cash-flow definition.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Estimate terminal value without letting it dominate unexplained.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DCF exposes value drivers and integration assumptions.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It is sensitive to WACC, terminal growth, margins and reinvestment.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scenarios and sensitivities; avoid false precision.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Market approaches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Trading comparables apply peer valuation multiples to the target's metric.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They reflect current market expectations but require genuinely comparable peers.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Adjust for scale, growth, margins, geography and business mix.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Precedent transactions reflect control premiums and deal-market conditions.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They may include strategic synergies not available to every buyer.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Date, cycle, structure and accounting consistency matter.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Normalising EBITDA and cash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Owner items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Replace related-party or owner compensation with market levels.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One-offs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genuinely non-recurring items, with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Run-rate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Reflect contracted or implemented changes without double counting.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Cash conversion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capex, working capital and tax; EBITDA is not cash 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Valuation risk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Sensitivity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 value over a rational WACC and terminal assumption range.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Scenario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Build base, upside and downside operating cases.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Cross-check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Compare implied multiples and free-cash-flow yield.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challenge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deal advocacy from valuation review and approval.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Value-creation levers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Revenue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Cross-sell, price, retention, channel and new capability.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Procurement, property, technology and shared services.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Capital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Working capital, capex, tax and portfolio optimisation.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Multiple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Improve recurring revenue, resilience, governance and growth quality.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Internal economies of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Commercial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Shared brand, channels, CRM and client coverage.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Operating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Central procurement, platforms, training and administration.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Financial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Funding access, cash pooling and professionalised controls.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ORIGINAL DECK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consideration moves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32461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025-cash-consid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01468"/>
            <a:ext cx="288036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Cash consideration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691640"/>
            <a:ext cx="32461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027-escrow-hold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468" y="1984248"/>
            <a:ext cx="2293088" cy="3154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Escrow / holdback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0104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0104" y="1691640"/>
            <a:ext cx="32461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031-convertible-instru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2095381"/>
            <a:ext cx="2880360" cy="293241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18120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Convertible instrument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1675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Reused from the supplied original PPT; interpret using the updated v2.0 concepts and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ORIGINAL DECK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risk is allocated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32461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037-contingent-instr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58149"/>
            <a:ext cx="2880360" cy="18068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Contingent consideration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691640"/>
            <a:ext cx="32461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051-asset-purch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565635"/>
            <a:ext cx="2880360" cy="199190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Asset purchase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0104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0104" y="1691640"/>
            <a:ext cx="32461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053-retention-incenti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2217109"/>
            <a:ext cx="2880359" cy="26889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18120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Retention mechanisms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1675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Reused from the supplied original PPT; interpret using the updated v2.0 concepts and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ORIGINAL DECK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value is triangulated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32461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057-valuation-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02583"/>
            <a:ext cx="2880360" cy="17180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Valuation families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691640"/>
            <a:ext cx="32461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061-income-val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085473"/>
            <a:ext cx="2880360" cy="29522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Income approach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0104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0104" y="1691640"/>
            <a:ext cx="32461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071-hybrid-valu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2393913"/>
            <a:ext cx="2880360" cy="2335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18120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Hybrid triangulation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1675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Reused from the supplied original PPT; interpret using the updated v2.0 concepts and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REAL-WORLD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Activities — Deal Structuring and Valuation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Bonadio–TGA Deal Thesis and Structure Activity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 · A1 · A6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Bonadio–TGA Valuation Triangulation Activity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K3 · A1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Progressive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Bonadio–TGA announced transaction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Facts separated from course assumptions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K1 · A1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Bonadio–TGA Deal Thesis and Structure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the announced Bonadio–TGA professional-services transaction to build a defensible strategic thesis and term-sheet architecture.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one-page deal thesis, strategic-fit scorecard and proposed consideration/risk-allocation package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Public transaction evidence · deal-thesis canvas · structure decision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 · REAL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Reported Facts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Reported / 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 6 August 2026, CPA Practice Advisor reported that The Bonadio Group would add T. Gschwender &amp; Associates (TGA), a Syracuse provider of credit-risk management services to financial institutions. The transaction was expected to close on 16 August 2026; financial terms were not disclosed. TGA was to join Bonadio's internal audit business unit within Advisory &amp; Consulting.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https://www.cpapracticeadvisor.com/2026/08/06/credit-risk-management-firm-joins-the-bonadio-group/188098/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purchase price, revenue, EBITDA or ownership terms were reported; do not infer them.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For comparison only, assume the seller values continuity, client service and continued management participation.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Treat every proposed instrument as a learner recommendation, not an account of the actual transaction.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1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facts support strategic fit, and which important facts remain unknown?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Would cash, rollover equity, an earn-out, a seller note or a holdback best allocate risk? Why?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value could scale create without weakening TGA's specialist edge?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conditions would make the team pause or walk away?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Bonadio–TGA Deal Thesis and Structure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page distinguishes facts from assumptions, proposes at least two instruments, links each term to a risk or value driver, and includes an explicit go/conditional/no-go recommendation.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K3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Bonadio–TGA Valuation Triangulation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 screening valuation for the real announced transaction using clearly labelled training assumptions because the deal's financial terms were not disclosed.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transparent valuation workbook with DCF, trading-comparable and precedent-transaction cross-checks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Enterprise-value bridge · DCF · comparable multiples · sensitivity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2 · REAL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Reported Facts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Reported / 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 6 August 2026, CPA Practice Advisor reported that The Bonadio Group would add T. Gschwender &amp; Associates (TGA), a Syracuse provider of credit-risk management services to financial institutions. The transaction was expected to close on 16 August 2026; financial terms were not disclosed. TGA was to join Bonadio's internal audit business unit within Advisory &amp; Consulting.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https://www.cpapracticeadvisor.com/2026/08/06/credit-risk-management-firm-joins-the-bonadio-group/188098/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Training case only: FY2026 revenue US$8.0m; normalised EBITDA US$2.0m; cash tax 24%; capex US$0.20m; change in NWC US$0.10m.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Five-year revenue growth: 8%, 7%, 6%, 5%, 4%; EBITDA margin gradually rises from 25% to 27%.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DCF base: WACC 12%; terminal growth 3%; net debt US$0.50m.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2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adjustments are needed to move reported EBITDA to normalised EBITDA?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value range emerges from DCF and the 7.0x–9.0x multiple cross-check?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does enterprise value bridge to equity value?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two assumptions drive the widest value change?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Bonadio–TGA Valuation Triangulation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model is formula-driven, shows sources/assumptions, has a working sensitivity table and reconciles DCF with the multiple range without claiming undisclosed deal 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Deal Structuring and Valuation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Bonadio–TGA Deal Thesis and Structure Activity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financial instruments to shape a deal structure (K1, A1, A6)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Bonadio–TGA Valuation Triangulation Activity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business valuation concepts and reconcile a valuation range (K3, A1)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Decision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facts, assumptions and unresolved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Carry valuation and diligence commitments into integration ownership.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60 minutes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 · K2 · K5 · A1 · 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Forecasting, Financial and Tax Implications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Business impact · synergies · pro forma statements · tax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WST-CFI-5003-1.1-1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Forecasting, Financial and Tax Implications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Standalone first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Forecast the target before adding buyer-specific synergies.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Timing matters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run-rate benefit, ramp-up and one-off cost to achieve.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Three statements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Trace assumptions through profit, cash flow and the balance sheet.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Tax is contextual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Structure effects require jurisdiction-specific professional advice.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K2 · K5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defensible deal forecast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Historical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Standalone drivers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Synergy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Integration costs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Cash and returns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K2 · K5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Standalone forecast drivers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Volume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Clients, units, capacity, utilisation or transactions.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Price and mix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Rate cards, discounts, segment mix and churn.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Margin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Labour productivity, procurement, delivery model and overhead.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Investment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Capex, working capital, technology and compliance.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K2 · K5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Synergy taxonomy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Revenue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Cross-sell, pricing, retention and new routes to market.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Duplicate roles, vendors, facilities and systems.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Capital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Working capital, capex avoidance and financing efficiency.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Dis-synergy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Client loss, talent exits, service disruption or cannibalisation.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K2 · K5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Run-rate benefit versus cash realisation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Run-rate is the annualised benefit once fully implemented.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phased ramp recognises hiring cycles, contracts and operational dependencies.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Owners and dates turn ambition into an integration commitment.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Cash realisation nets cost-to-achieve, tax and working-capital effects.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Track both recurring benefit and one-off spend.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 recognising a synergy before the underlying action is complete.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K2 · K5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Integration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People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Retention, severance, relocation and training.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Technology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Migration, licences, cybersecurity and data remediation.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Rebranding, facilities, process redesign and advisers.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Contingency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transparent risk allowance linked to specific uncertainty.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K2 · K5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Scenario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Downside drivers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Severe but plausible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Management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Liquidity and covenant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K2 · K5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Deal return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NPV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Present value of incremental cash flows less investment.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IRR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Discount rate at which deal cash flows have zero NPV.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Post-tax operating profit relative to invested capital.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Payback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 until cumulative cash inflow recovers the investment.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K2 · K5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Accretion/dilution is not intrinsic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EPS accretion asks whether pro forma EPS rises after financing and accounting effects.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It can be influenced by relative P/E multiples, funding mix and buyback alternatives.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deal can be EPS-accretive yet destroy economic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Value creation asks whether return exceeds the risk-adjusted cost of capital.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NPV/ROIC, strategic option value and downside resilience.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both views to decision-makers.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K2 · K5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statement effects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Profit and loss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New revenue/cost base, financing, amortisation and integration charges.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Balance sheet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Consideration, debt, goodwill, intangibles and deferred tax.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Cash flow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Purchase consideration, transaction costs, integration spend and working capital.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Ratios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Leverage, liquidity, interest cover, margins and covenant headroom.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K2 · K5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Purchase price allocation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Identify consideration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Fair-value assets/liabilities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Recognise intangibles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deferred tax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Residual goodwill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K2 · K5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Tax diligence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Compliance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Returns, audits, uncertain positions and indirect taxes.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Attributes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Losses, credits and incentives, including limits after ownership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Share/asset route, financing, withholding and stamp duties.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Integration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Transfer pricing, systems, tax governance and reporting readiness.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K2 · K5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Effective tax rate: opportunity and guardrail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Interest may create a tax shield subject to deductibility limits.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Tax attributes can have value only if legally usable and supported by future profits.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Asset basis and intangible deductions vary by jurisdiction.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optimise the model without legal substance and business purpose.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Model cash tax separately from accounting tax expense.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Escalate cross-border, anti-avoidance and transfer-pricing questions to advisers.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K2 · K5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Checks and balances before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owner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key assumption has a named source and as-of 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Independent case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Finance challenges sponsor assumptions and double counting.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Legal, tax, compliance, cyber and people leads sign off.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Board 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Decision paper shows range, downside, mitigations and walk-away conditions.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02 · K2 · K5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synergy is not value until an action, owner, date and cash impact are traceable.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Forecasting connects the investment case to integration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ORIGINAL DECK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value grows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32461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075-value-le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05851"/>
            <a:ext cx="2880360" cy="17114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Value levers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691640"/>
            <a:ext cx="32461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087-shareholder-value-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557252"/>
            <a:ext cx="2880360" cy="20086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Value roadmap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0104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0104" y="1691640"/>
            <a:ext cx="32461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090-economies-of-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2538031"/>
            <a:ext cx="2880360" cy="20471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18120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Scale pathways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1675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Reused from the supplied original PPT; interpret using the updated v2.0 concepts and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ORIGINAL DECK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forecasts 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32461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103-forecasting-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01468"/>
            <a:ext cx="288036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Business-impact forecast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691640"/>
            <a:ext cx="32461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104-forecasting-pr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693534"/>
            <a:ext cx="2880360" cy="17361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Forecast dimensions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0104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0104" y="1691640"/>
            <a:ext cx="32461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120-mna-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2265426"/>
            <a:ext cx="2880360" cy="25923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18120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Integrated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1675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Reused from the supplied original PPT; interpret using the updated v2.0 concepts and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ORIGINAL DECK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finance is challenged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32461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121-tax-consid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01468"/>
            <a:ext cx="288036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Tax considerations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691640"/>
            <a:ext cx="32461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143-financial-rat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673165"/>
            <a:ext cx="2880360" cy="177684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Financial ratios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0104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0104" y="1691640"/>
            <a:ext cx="32461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144-cash-conversion-cyc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2174852"/>
            <a:ext cx="2880360" cy="27734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18120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Cash conversion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1675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Reused from the supplied original PPT; interpret using the updated v2.0 concepts and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REAL-WORLD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Activities — Forecasting, Financial and Tax Implications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Bonadio–TGA Three-Year Synergy Forecast Activity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K2 · A1 · A2 · A5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Bonadio–TGA Pro Forma and Tax Challenge Activity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K5 · A1 · A2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Progressive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Bonadio–TGA announced transaction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Facts separated from course assumptions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K2 · A1 · A2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Bonadio–TGA Three-Year Synergy Forecast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Translate the public strategic rationale into a three-year base/downside/upside forecast with a traceable synergy bridge.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standalone-to-combined forecast, synergy register, cost-to-achieve schedule and executive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Driver model · synergy bridge · scenarios · NPV/ROIC · BI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3 · REAL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Reported Facts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Reported / 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 6 August 2026, CPA Practice Advisor reported that The Bonadio Group would add T. Gschwender &amp; Associates (TGA), a Syracuse provider of credit-risk management services to financial institutions. The transaction was expected to close on 16 August 2026; financial terms were not disclosed. TGA was to join Bonadio's internal audit business unit within Advisory &amp; Consulting.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https://www.cpapracticeadvisor.com/2026/08/06/credit-risk-management-firm-joins-the-bonadio-group/188098/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Activity 2's course-only financial base; none of the financial inputs are reported transaction facts.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Potential value levers may include cross-selling credit-risk, loan-review and regulatory-advisory services across Bonadio's financial-institution clients.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Model base synergies: revenue US$0.25m/0.60m/1.00m; cost US$0.10m/0.25m/0.35m in Years 1–3.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3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synergy levers are buyer-specific and incremental to standalone performance?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the Year 3 run-rate synergy and cumulative cash realisation?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do downside assumptions affect NPV, ROIC and payback?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leading indicators should the IMO monitor before financial benefits appear?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Bonadio–TGA Three-Year Synergy Forecast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Standalone and synergy cases are separate; every synergy has an owner and timing; cash impact includes cost-to-achieve and tax; downside results are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K5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Bonadio–TGA Pro Forma and Tax Challenge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Trace an illustrative acquisition through the income statement, balance sheet and cash flow, then challenge tax and control assumptions.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pro forma bridge, purchase-price allocation sketch, tax issue list and board challenge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Pro forma statements · PPA · goodwill · leverage · tax diligence · approval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4 · REAL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Reported Facts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Reported / 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 6 August 2026, CPA Practice Advisor reported that The Bonadio Group would add T. Gschwender &amp; Associates (TGA), a Syracuse provider of credit-risk management services to financial institutions. The transaction was expected to close on 16 August 2026; financial terms were not disclosed. TGA was to join Bonadio's internal audit business unit within Advisory &amp; Consulting.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https://www.cpapracticeadvisor.com/2026/08/06/credit-risk-management-firm-joins-the-bonadio-group/188098/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Training case only: purchase enterprise value US$16.0m; consideration 60% cash/debt and 40% buyer equity.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Illustrative identifiable intangible assets: client relationships US$4.0m and trade name US$1.0m; assumed useful lives 8 and 5 years.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Illustrative fair-value adjustment to other net assets: US$1.5m; deferred-tax rate 24%.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4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drives goodwill under the training PPA?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do financing, intangible amortisation and integration charges affect earnings and cash differently?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tax attributes or exposures need documentary evidence?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approval conditions should the independent review team impose?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Bonadio–TGA Pro Forma and Tax Challenge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pack ties across sources/uses and statement bridges, labels training assumptions, distinguishes cash/non-cash and recurring/one-off items, and lists unresolved tax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Forecasting, Financial and Tax Implications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Bonadio–TGA Three-Year Synergy Forecast Activity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Forecast business impact and assess effects on financial performance (K2, A1, A2, A5)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Bonadio–TGA Pro Forma and Tax Challenge Activity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 financial and tax implications and act as checks and balances (K5, A1, A2)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Decision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facts, assumptions and unresolved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Carry valuation and diligence commitments into integration ownership.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Return tomorrow ready to challenge the deal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 · K4 · A4 · A5 · A6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Target Identification, Risk and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Industry intelligence · screening · diligence · risk ·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WST-CFI-5003-1.1-1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Target Identification, Risk and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Thesis-led search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the capability gap and target archetype before scanning names.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 hierarchy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Triangulate management data with external, operational and customer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Holistic 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Financial, operational, strategic, regulatory, cultural and external risks interact.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 intelligence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Dashboards support judgement; they do not replace accountable approval.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K4 · A4 · A5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Target-screening funnel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Market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Long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Screening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Short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Approach and diligence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K4 · A4 · A5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Industry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Market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Growth, concentration, customer demand and disruption.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Competition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Differentiation, entry barriers, pricing pressure and substitutes.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Talent, patents, licences, data, technology and delivery model.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Tax, regulation, geopolitics, ESG and funding conditions.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K4 · A4 · A5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Screening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Strategic fit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the target directly advance the deal thesis?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Financial quality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Growth, margin, cash conversion and recurring revenue.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Synergy fit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Specific buyer advantages without double counting.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Valuation, owner intent, approvals and integration capacity.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K4 · A4 · A5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Patents and intellectual property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Confirm ownership, registrations, licences and freedom to operate.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Identify open-source, contractor and employee-created IP exposure.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Assess remaining life, enforceability and revenue dependence.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Map IP to products, customers and the deal thesis.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Evaluate obsolescence and substitute technologies.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Reflect remediation, protection cost and uncertainty in price or terms.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K4 · A4 · A5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Due diligence workstreams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Commercial and strategic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Financial and tax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Legal and regulatory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Operations and technology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People, culture and ESG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K4 · A4 · A5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of earnings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Revenue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Recognition, cut-off, concentration, backlog and churn.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Costs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Run-rate staffing, related parties, capitalisation and one-offs.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Working capital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Seasonality, ageing, provisions and normal level.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Conversion, capex, debt-like items and off-balance-sheet obligations.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K4 · A4 · A5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MDPI review: four connected risk themes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Information asymmetry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Unequal or opaque information can distort price and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Performance and reputation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Operating outcomes and stakeholder trust influence each other.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Litigation and investor protection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Rights, enforcement and governance affect downside.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Geopolitical factors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Policy, sanctions and uncertainty can change feasibility and value.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K4 · A4 · A5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Enterprise M&amp;A risk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Financial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Overpayment, leverage, liquidity and forecast error.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Operational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Process, systems, service continuity and supply chain.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Strategic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Weak rationale, competition, customer response and disruption.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Regulatory and cultural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Approvals, compliance, leadership, talent and behaviour.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K4 · A4 · A5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identification and prioritisation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Fishbone analysis prompts causes across people, process, technology, data, market and governance.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Diligence findings should describe cause, event and consequence.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Link every material risk to valuation or integration.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Score likelihood and impact with defined scales.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weighted multi-criteria methods only when assumptions are transparent.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Prioritise by exposure, velocity, detectability and control strength.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K4 · A4 · A5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Reduce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Transfer or allocate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Accept with appetite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Monitor and escalate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K4 · A4 · A5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Diligence red flags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Earnings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Late adjustments, unexplained margins or unsupported add-backs.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Concentration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Dependence on a client, partner, employee, licence or platform.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Weak approvals, data lineage, cybersecurity or regulatory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Culture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Leadership gaps, regretted attrition, grievance patterns or conflicting incentives.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K4 · A4 · A5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Business intelligence for deal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Market 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Peer multiples, pricing, market share and customer sentiment.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Target 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Cohorts, margin bridges, pipeline, churn and productivity.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Exceptions, incidents, litigation, cyber and compliance indicators.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Integration 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Synergy, milestones, talent, clients and Day One readiness.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K4 · A4 · A5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Thesis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Indicative value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Diligence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Signing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Close and Day One 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03 · K4 · A4 · A5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Uncertainty should change price, terms, protection or the decision—not disappear in a footnote.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 strong deal team makes uncertainty visible early enough to 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ORIGINAL DECK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targets are screened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32461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153-target-scre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01468"/>
            <a:ext cx="288036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Target screening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691640"/>
            <a:ext cx="32461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162-due-dili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121408"/>
            <a:ext cx="2880360" cy="2880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Due diligence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0104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0104" y="1691640"/>
            <a:ext cx="32461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164-diligence-workstrea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2401963"/>
            <a:ext cx="2880360" cy="2319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18120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Diligence workstreams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1675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Reused from the supplied original PPT; interpret using the updated v2.0 concepts and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ORIGINAL DECK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risk becomes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32461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168-risk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420" y="1984248"/>
            <a:ext cx="1974880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Risk 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691640"/>
            <a:ext cx="32461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169-business-intelli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121408"/>
            <a:ext cx="2880360" cy="2880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Business intelligence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0104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0104" y="1691640"/>
            <a:ext cx="32461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170-intelligence-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829" y="1984248"/>
            <a:ext cx="2728669" cy="3154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18120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Intelligence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1675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Reused from the supplied original PPT; interpret using the updated v2.0 concepts and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ORIGINAL DECK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the decision is framed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32461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171-pes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18995"/>
            <a:ext cx="2880360" cy="14851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PESTLE lens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691640"/>
            <a:ext cx="32461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176-evaluation-t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121408"/>
            <a:ext cx="2880360" cy="2880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Evaluation toolkit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0104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0104" y="1691640"/>
            <a:ext cx="32461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177-evaluation-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3595" y="1984248"/>
            <a:ext cx="2019137" cy="3154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18120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Evaluation tree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1675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Reused from the supplied original PPT; interpret using the updated v2.0 concepts and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REAL-WORLD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Activities — Target Identification, Risk and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Bonadio–TGA Target Screening and Diligence Activity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K4 · A4 · A6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Bonadio–TGA M&amp;A Risk Intelligence Activity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A2 · A4 · A5 · A6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Progressive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Bonadio–TGA announced transaction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Facts separated from course assumptions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K4 · A4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Bonadio–TGA Target Screening and Diligence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Convert the public transaction rationale into a target-screening scorecard and a diligence plan that tests specialist capability, client trust and regulatory quality.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target-screening scorecard, evidence request list and diligence workplan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Market map · screening criteria · evidence hierarchy · QoE · commercial/legal/tech/people diligence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5 · REAL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Reported Facts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Reported / 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 6 August 2026, CPA Practice Advisor reported that The Bonadio Group would add T. Gschwender &amp; Associates (TGA), a Syracuse provider of credit-risk management services to financial institutions. The transaction was expected to close on 16 August 2026; financial terms were not disclosed. TGA was to join Bonadio's internal audit business unit within Advisory &amp; Consulting.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https://www.cpapracticeadvisor.com/2026/08/06/credit-risk-management-firm-joins-the-bonadio-group/188098/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Verified facts include TGA's reported service areas, founding year, target client type and planned Bonadio business-unit placement.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Client concentration, financial performance, staff roster, contracts, cyber posture and regulatory findings are unknown and must be requested.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exercise tests whether the announced rationale is supported; it does not assert undisclosed findings.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5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screening criteria best test the announced capability-expansion thesis?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evidence would confirm service quality and sticky client relationships?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diligence items can change value, structure or the decision?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must be handed from diligence to the integration team?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Bonadio–TGA Target Screening and Diligence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Weights total 100%, scores cite evidence status, every high-risk item has an owner and decision impact, and diligence findings flow into integration 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A2 · A4 · A5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Bonadio–TGA M&amp;A Risk Intelligence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Apply the MDPI risk themes and the SSRN enterprise-risk framework to the real announced deal, then create a decision dashboard and escalation memo.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risk taxonomy, heat map, bow-tie controls, BI dashboard and go/conditional/no-go memo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MDPI risk themes · Fishbone · risk scoring · controls · leading indicators · decision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6 · REAL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Reported Facts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Reported / 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 6 August 2026, CPA Practice Advisor reported that The Bonadio Group would add T. Gschwender &amp; Associates (TGA), a Syracuse provider of credit-risk management services to financial institutions. The transaction was expected to close on 16 August 2026; financial terms were not disclosed. TGA was to join Bonadio's internal audit business unit within Advisory &amp; Consulting.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https://www.mdpi.com/2227-9091/12/9/143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MDPI review identifies four connected themes: information asymmetry; performance/reputation; litigation/investor protection; geopolitical factors.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SSRN review discusses financial, operational, strategic, regulatory and cultural risk and structured identification/quantification methods.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Risks used in this case are hypotheses for diligence, not allegations about either firm.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6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do information asymmetry and reputation risk interact in a regulated advisory business?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causes sit behind client loss, specialist-talent loss and regulatory-quality failure?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controls reduce likelihood and what recovery actions reduce impact?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metrics and thresholds should trigger escalation?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6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Bonadio–TGA M&amp;A Risk Intelligence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Risk statements are specific, scoring scales are defined, controls have owners, dashboard thresholds are actionable and the recommendation follows the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Target Identification, Risk and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Bonadio–TGA Target Screening and Diligence Activity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industry intelligence to screen a target and plan risk-based diligence (K4, A4, A6)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Bonadio–TGA M&amp;A Risk Intelligence Activity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BI to assess and manage M&amp;A risk across the lifecycle (A2, A4, A5, A6)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Decision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facts, assumptions and unresolved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Carry valuation and diligence commitments into integration ownership.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60 minutes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 · A2 · A3 · K2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Stakeholder Alignment and Post-Merger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Governance · checks and balances · IMO · culture ·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WST-CFI-5003-1.1-1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Stakeholder Alignment and Post-Merger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Integration starts before close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Diligence findings and the deal thesis must transfer into the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Governance enables pace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Decision rights, escalation and cadence prevent cross-functional drift.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Protect value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Client continuity, talent and culture are economic value drivers.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Measure outcomes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Track commitments, not activity volume.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A3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Stakeholder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Governance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Board, SteerCo, deal executive and regulators.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IMO, workstream leads, integration teams and business owners.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People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Leaders, employees, talent groups and representatives.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External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Clients, suppliers, lenders, partners and communities.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A3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RACI and decision rights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Responsible performs the work; Accountable owns the outcome.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Consulted contributes before a decision; Informed receives the result.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accountable owner avoids committee ambiguity.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Define reserved decisions, thresholds and escalation routes.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Separate deal sponsorship from independent control challenge.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 decisions, assumptions, owners and due dates.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A3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EY: nine integration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Step 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Value drivers and principles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Step 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Legal interaction rules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Step 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Stand up IMO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Step 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Day One charters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3319272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Step 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Operating 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3319272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3447288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Step 6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Functional plans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55464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983480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Step 7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Execute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13504" y="4855464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3504" y="4855464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669536" y="523036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9536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1056" y="4983480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Step 8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Capture value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9768" y="4855464"/>
            <a:ext cx="3361944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9768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305800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0580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37320" y="4983480"/>
            <a:ext cx="2154936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Step 9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Manage stakeholders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A3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Three-tier integration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SteerCo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Sets direction and resolves the highest-significance issues.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Coordinates workstreams, risks, dependencies, decisions and value.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Functional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Deliver milestones and resolve day-to-day issues.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A3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Pre-close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Clean team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 competitively sensitive data to authorised reviewers.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Gun-jumping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control the target before legal close.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Confidentiality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channels, access, retention and permitted use.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Readiness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Plan Day One without prematurely implementing control.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A3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One must-haves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People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Leadership, employment continuity, access and emergency contacts.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Service continuity, relationship owners and approved messages.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Authority limits, cash, compliance, cyber and incident escalation.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Systems access, critical vendors, sites and business continuity.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A3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First 100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Stabilise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Confirm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Mobilise initiatives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Track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Adjust and embed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A3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Integration strategy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Absorption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Fully integrate when standardisation and scale are central to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Preservation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Protect autonomy when brand, culture or specialist capability drives value.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Symbiosis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 selected capabilities while allowing mutual adaptation.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Holding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 a portfolio relationship with limited operational integration.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A3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Synergy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Baseline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Freeze the standalone reference point and avoid moving targets.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Initiative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 the action, owner, milestone, dependency and cost-to-achieve.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Finance validation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recurring P&amp;L and cash impact; remove double counting.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Reporting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forecast, achieved, at-risk and lost value.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A3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Culture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Profile decision style, client model, risk appetite, incentives and leadership behaviours.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Identify where differences are complementary and where they threaten the thesis.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Design the future culture through observable behaviours, not slogans.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Listen through interviews, surveys, data and leader observation.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Protect critical identity where specialist trust creates value.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Track regretted attrition, engagement, client continuity and conduct indicators.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A3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Professional services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Talent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Retention combines economics, career opportunity, identity and clarity.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Relationship continuity and conflict checks protect revenue.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Governance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Partner autonomy must align with board, risk and reporting discipline.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Technology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Data, workflow and platforms should scale without weakening quality.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A3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Change and communication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 what each stakeholder needs to know, feel and 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Message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the rationale, impact, timing and unresolved questions honestly.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Channel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leader cascades, client outreach, town halls and two-way forums.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Feedback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Track sentiment, rumours, adoption barriers and response actions.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A2 · A3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Integration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Revenue, cost, capital and cost-to-achieve.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Customers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Retention, pipeline, complaints and service levels.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People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Critical talent retention, engagement and role fill.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Execution and 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Milestones, dependencies, incidents and controls.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04 · A2 · A3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Closing completes the transaction; integration must still earn the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deal thesis becomes an operating commitment on Day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ORIGINAL DECK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stakeholders govern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32461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183-stakeholder-engag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21408"/>
            <a:ext cx="2880360" cy="2880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Stakeholder engagement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691640"/>
            <a:ext cx="32461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189-checks-bala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121408"/>
            <a:ext cx="2880360" cy="2880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Checks and balances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0104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0104" y="1691640"/>
            <a:ext cx="32461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200-culture-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2121408"/>
            <a:ext cx="2880360" cy="2880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18120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Culture and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1675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Reused from the supplied original PPT; interpret using the updated v2.0 concepts and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ORIGINAL DECK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integration is mobilised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32461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184-post-merger-integ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47886"/>
            <a:ext cx="2880360" cy="16274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Post-merger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691640"/>
            <a:ext cx="32461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193-implementation-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121408"/>
            <a:ext cx="2880360" cy="2880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Implementation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0104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0104" y="1691640"/>
            <a:ext cx="32461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200-culture-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2121408"/>
            <a:ext cx="2880360" cy="2880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18120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Culture and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1675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Reused from the supplied original PPT; interpret using the updated v2.0 concepts and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ORIGINAL DECK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the original story connects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32461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074-valuation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21408"/>
            <a:ext cx="2880360" cy="2880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Valuation strategy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691640"/>
            <a:ext cx="32461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088-scale-strate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121408"/>
            <a:ext cx="2880360" cy="2880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Scale strategy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0104" y="1691640"/>
            <a:ext cx="3246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0104" y="1691640"/>
            <a:ext cx="32461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145-transaction-examp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2601468"/>
            <a:ext cx="2880360" cy="1920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18120" y="5166360"/>
            <a:ext cx="29900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Transaction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1675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Reused from the supplied original PPT; interpret using the updated v2.0 concepts and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REAL-WORLD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Activities — Stakeholder Alignment and Post-Merger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Bonadio–TGA Integration Program Design Activity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A2 · A3 · A4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Bonadio–TGA Culture, Talent and Client Continuity Activity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K2 · A2 · A3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Progressive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Bonadio–TGA announced transaction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Facts separated from course assumptions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A2 · A3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Bonadio–TGA Integration Program Design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EY's nine-step integration framework to turn the Bonadio–TGA deal thesis and diligence findings into a Day One and first-100-days program.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Integration strategy, governance/RACI, workstream charters, Day One checklist and 100-day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SteerCo · IMO · workstreams · legal guardrails · operating model · synergy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7 · REAL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Reported Facts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Reported / 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 6 August 2026, CPA Practice Advisor reported that The Bonadio Group would add T. Gschwender &amp; Associates (TGA), a Syracuse provider of credit-risk management services to financial institutions. The transaction was expected to close on 16 August 2026; financial terms were not disclosed. TGA was to join Bonadio's internal audit business unit within Advisory &amp; Consulting.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https://www.ey.com/content/dam/ey-unified-site/ey-com/en-gl/insights/mergers-acquisitions/documents/ey-nine-key-steps-to-setting-up-merger-acquisition-integration-program.pdf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exercise occurs before the expected close, so integration planning must respect confidentiality and gun-jumping restrictions.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TGA is expected to join Bonadio's internal audit business unit; detailed operating-model decisions are not publicly reported.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Learner choices are recommendations based on the deal thesis and risk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7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value drivers and guiding principles should govern integration decisions?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belongs with SteerCo, IMO and functional workstreams?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must be ready on Day One, and what should be phased?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will the team prove that value is captured without weakening quality?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7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Bonadio–TGA Integration Program Design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blueprint maps all nine EY steps, separates pre-close planning from post-close control, assigns governance and owners, and links integration actions to value and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K2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Bonadio–TGA Culture, Talent and Client Continuity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the professional-services M&amp;A briefing to design a people-and-client integration plan that preserves specialist identity while enabling scaled capabilities.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Culture risk map, critical-talent plan, client continuity playbook and stakeholder communication 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Culture diligence · retention · client ownership · change narrative · pulse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8 · REAL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Reported Facts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Reported / 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 6 August 2026, CPA Practice Advisor reported that The Bonadio Group would add T. Gschwender &amp; Associates (TGA), a Syracuse provider of credit-risk management services to financial institutions. The transaction was expected to close on 16 August 2026; financial terms were not disclosed. TGA was to join Bonadio's internal audit business unit within Advisory &amp; Consulting.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https://www.financierworldwide.com/briefing-room-ma-in-the-professional-services-sector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briefing emphasises that professional-services value depends heavily on people, client relationships, specialist identity and culture.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talent, client or culture problems have been reported for the Bonadio–TGA transaction; the risks below are planning hypotheses.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Retention should combine financial alignment, career opportunity, clarity and cultural fit.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med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8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aspects of TGA's specialist identity should be preserved, and which should standardise?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Who are the critical talent and client relationships, and what would make them leave?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should leadership explain the transaction to staff and clients?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leading indicators show culture or client value is deteriorating?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med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8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Bonadio–TGA Culture, Talent and Client Continuity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playbook distinguishes preservation from standardisation, names owners and indicators, covers critical talent and clients, and includes a tested response to an early warning.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med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Stakeholder Alignment and Post-Merger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Bonadio–TGA Integration Program Design Activity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Develop an implementation plan with stakeholders and governance (A2, A3, A4)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Bonadio–TGA Culture, Talent and Client Continuity Activity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Align stakeholders and manage culture/change in professional-services integration (K2, A2, A3)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Decision habit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facts, assumptions and unresolved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Carry valuation and diligence commitments into integration ownership.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med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Deal Thesis to Realised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med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financial instruments and valuation methods to structure mergers and acquisitions that optimise organisational benefit and shareholder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 the business, financial and tax impact of potential M&amp;A deals using industry data and forecasting techniques.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Identify, assess and manage M&amp;A risks across the full transaction lifecycle from target selection to post-deal integration.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Collaborate with stakeholders to develop and implement M&amp;A plans while ensuring governance, synergy realisation and strategic alignment.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med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complete M&amp;A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Value and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Risk-adjusted 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Integration and benefits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med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Course page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https://www.tertiarycourses.com.sg/wsq-strategic-mergers-and-acquisitions-valuation-risk-and-integration.html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Bonadio–TGA transaction report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https://www.cpapracticeadvisor.com/2026/08/06/credit-risk-management-firm-joins-the-bonadio-group/188098/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M&amp;A risk review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https://www.mdpi.com/2227-9091/12/9/143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Professional services M&amp;A briefing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https://www.financierworldwide.com/briefing-room-ma-in-the-professional-services-sector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Sources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EY integration program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https://www.ey.com/content/dam/ey-unified-site/ey-com/en-gl/insights/mergers-acquisitions/documents/ey-nine-key-steps-to-setting-up-merger-acquisition-integration-program.pdf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4370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Enterprise M&amp;A risk management review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https://papers.ssrn.com/sol3/papers.cfm?abstract_id=5106493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med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658368"/>
          </a:xfrm>
          <a:prstGeom prst="rect">
            <a:avLst/>
          </a:prstGeom>
          <a:solidFill>
            <a:srgbClr val="EE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Download the current slides and Learner Guide.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880360"/>
            <a:ext cx="333756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and complete the WA then Case Study.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880360"/>
            <a:ext cx="333756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Submission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Upload completed answers and complete the sign-off process.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med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WA-SAQ · 4:00–5:00pm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 open-ended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K1–K5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Case Study · 5:00–6:00pm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3 integrated tasks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A1–A6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Finish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Submit on LMS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Digital attendance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Sign summary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med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/ SSG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then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med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QR code shown by the trainer.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Submit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assessment attendance event.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the submission confirmation.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Resolve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Tell the trainer immediately if it fails.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med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STRATEGIC M&amp;A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Make the deal thesis testable, the risk visible and the value accountable.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Strategic Mergers and Acquisitions  ·  TGS-2026061581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